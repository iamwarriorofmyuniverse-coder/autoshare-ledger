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280160"/>
            <a:ext cx="92656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DEPARTMENT OF ARTIFICIAL INTELLIGENCE &amp; DATA SCIENCE</a:t>
            </a:r>
          </a:p>
          <a:p>
            <a:pPr algn="ctr">
              <a:defRPr sz="1600" b="1">
                <a:solidFill>
                  <a:srgbClr val="FBBF24"/>
                </a:solidFill>
                <a:latin typeface="Segoe UI"/>
              </a:defRPr>
            </a:pPr>
            <a:r>
              <a:t>EXPERIMENT NO: 10</a:t>
            </a:r>
          </a:p>
          <a:p>
            <a:pPr algn="ctr">
              <a:defRPr sz="2800" b="1">
                <a:solidFill>
                  <a:srgbClr val="F8FAFC"/>
                </a:solidFill>
                <a:latin typeface="Segoe UI"/>
              </a:defRPr>
            </a:pPr>
            <a:r>
              <a:t>AutoShare Ledger - GUI Database Application</a:t>
            </a:r>
          </a:p>
          <a:p>
            <a:pPr algn="ctr">
              <a:defRPr sz="1400">
                <a:solidFill>
                  <a:srgbClr val="94A3B8"/>
                </a:solidFill>
                <a:latin typeface="Segoe UI"/>
              </a:defRPr>
            </a:pPr>
            <a:r>
              <a:t>Integrating Key Constraints, Automated Database Triggers, Stored Procedures &amp; Deletion Safety Guards</a:t>
            </a:r>
          </a:p>
          <a:p>
            <a:br/>
            <a:pPr algn="ctr">
              <a:defRPr sz="1200">
                <a:solidFill>
                  <a:srgbClr val="34D399"/>
                </a:solidFill>
                <a:latin typeface="Segoe UI"/>
              </a:defRPr>
            </a:pPr>
            <a:r>
              <a:t>• Interface: Interactive Desktop GUI Dashboard with Real-Time Metrics</a:t>
            </a:r>
            <a:br/>
            <a:r>
              <a:t>• Database: SQLite3 / MySQL Relational Schema with DDL &amp; Procedures</a:t>
            </a:r>
            <a:br/>
            <a:r>
              <a:t>• Vehicle Registration: Real Indian Registration Plates (TN 37 BY 0650, etc.)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DBMS LABORATORY • EXPERIMENT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Aim &amp; Laboratory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1. Key Constraints</a:t>
            </a:r>
          </a:p>
          <a:p>
            <a:pPr>
              <a:defRPr sz="1150">
                <a:solidFill>
                  <a:srgbClr val="F8FAFC"/>
                </a:solidFill>
                <a:latin typeface="Segoe UI"/>
              </a:defRPr>
            </a:pPr>
            <a:r>
              <a:t>Enforce PRIMARY KEY on Vehicle Registration Number, UNIQUE constraint on Customer Driving License, and CHECK constraints on fuel level (0-100%) and daily 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212080" cy="210312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2. Database Trigger</a:t>
            </a:r>
          </a:p>
          <a:p>
            <a:pPr>
              <a:defRPr sz="1150">
                <a:solidFill>
                  <a:srgbClr val="F8FAFC"/>
                </a:solidFill>
                <a:latin typeface="Segoe UI"/>
              </a:defRPr>
            </a:pPr>
            <a:r>
              <a:t>Implement AFTER INSERT trigger on Rentals table to automatically update vehicle status to 'Rented' upon booking without client-side intervention.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egoe UI"/>
              </a:defRPr>
            </a:pPr>
            <a:r>
              <a:t>3. Stored Procedure</a:t>
            </a:r>
          </a:p>
          <a:p>
            <a:pPr>
              <a:defRPr sz="1150">
                <a:solidFill>
                  <a:srgbClr val="F8FAFC"/>
                </a:solidFill>
                <a:latin typeface="Segoe UI"/>
              </a:defRPr>
            </a:pPr>
            <a:r>
              <a:t>Create ReturnVehicle(vehicle_id, fuel_level) to calculate base rent, audit fuel level, assess a Rs. 500 penalty if fuel &lt; 20%, and restore status to 'Available'.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23360"/>
            <a:ext cx="5212080" cy="210312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206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7185"/>
                </a:solidFill>
                <a:latin typeface="Segoe UI"/>
              </a:defRPr>
            </a:pPr>
            <a:r>
              <a:t>4. Deletion Safety Guards</a:t>
            </a:r>
          </a:p>
          <a:p>
            <a:pPr>
              <a:defRPr sz="1150">
                <a:solidFill>
                  <a:srgbClr val="F8FAFC"/>
                </a:solidFill>
                <a:latin typeface="Segoe UI"/>
              </a:defRPr>
            </a:pPr>
            <a:r>
              <a:t>Provide Delete Vehicle &amp; Delete Customer features with intelligent active-rental locks preventing deletion of rented vehicles or active renters.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DBMS LABORATORY • EXPERIMENT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Relational Database Schema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66344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3154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Vehicles Table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• Vehicle_Number (VARCHAR(50))</a:t>
            </a:r>
            <a:br/>
            <a:r>
              <a:t>   └ PRIMARY KEY (e.g., 'TN 37 BY 0650')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• Model_Name (VARCHAR(100))</a:t>
            </a:r>
            <a:br/>
            <a:r>
              <a:t>   └ Make &amp; Model (e.g. 'RE GT 650')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• Vehicle_Type (VARCHAR(20))</a:t>
            </a:r>
            <a:br/>
            <a:r>
              <a:t>   └ CHECK (IN ('Car', 'Bike'))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• Daily_Rate (DECIMAL(10,2))</a:t>
            </a:r>
            <a:br/>
            <a:r>
              <a:t>   └ CHECK (Daily_Rate &gt; 0)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• Status (VARCHAR(20))</a:t>
            </a:r>
            <a:br/>
            <a:r>
              <a:t>   └ CHECK (IN ('Available', 'Rented'))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• Fuel_Level (DECIMAL(5,2))</a:t>
            </a:r>
            <a:br/>
            <a:r>
              <a:t>   └ CHECK (0 &lt;= Fuel &lt;= 100)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429000" cy="466344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783080"/>
            <a:ext cx="3154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Segoe UI"/>
              </a:defRPr>
            </a:pPr>
            <a:r>
              <a:t>Customers Table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• Customer_ID (INTEGER)</a:t>
            </a:r>
            <a:br/>
            <a:r>
              <a:t>   └ PRIMARY KEY AUTOINCREMENT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• Full_Name (VARCHAR(100))</a:t>
            </a:r>
            <a:br/>
            <a:r>
              <a:t>   └ Customer Full Name (NOT NULL)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• Driving_License (VARCHAR(50))</a:t>
            </a:r>
            <a:br/>
            <a:r>
              <a:t>   └ UNIQUE, NOT NULL (Govt ID)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• Phone_Number (VARCHAR(20))</a:t>
            </a:r>
            <a:br/>
            <a:r>
              <a:t>   └ Contact Phone (NOT NULL)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429000" cy="466344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783080"/>
            <a:ext cx="3154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Segoe UI"/>
              </a:defRPr>
            </a:pPr>
            <a:r>
              <a:t>Rentals Ledger Table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• Rental_ID (INTEGER)</a:t>
            </a:r>
            <a:br/>
            <a:r>
              <a:t>   └ PRIMARY KEY AUTOINCREMENT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• Vehicle_Number (VARCHAR(50))</a:t>
            </a:r>
            <a:br/>
            <a:r>
              <a:t>   └ FOREIGN KEY -&gt; Vehicles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• Customer_ID (INTEGER)</a:t>
            </a:r>
            <a:br/>
            <a:r>
              <a:t>   └ FOREIGN KEY -&gt; Customers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• Rental_Date (TIMESTAMP)</a:t>
            </a:r>
            <a:br/>
            <a:r>
              <a:t>   └ Booking Date (DEFAULT NOW)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• Return_Date (TIMESTAMP)</a:t>
            </a:r>
            <a:br/>
            <a:r>
              <a:t>   └ Return Date (Set on Return)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• Extra_Fee (DECIMAL(10,2))</a:t>
            </a:r>
            <a:br/>
            <a:r>
              <a:t>   └ Penalty Surcharge (&lt; 20% fuel)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• Total_Amount (DECIMAL(10,2))</a:t>
            </a:r>
            <a:br/>
            <a:r>
              <a:t>   └ Total Billed Amount (Rs.)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• Rental_Status (VARCHAR(20))</a:t>
            </a:r>
            <a:br/>
            <a:r>
              <a:t>   └ 'Active' or 'Completed'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DBMS LABORATORY • EXPERIMENT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Automated Database Trigger (AFTER INSERT ON Rentals)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Trigger Specification &amp; Logic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Event Hook: AFTER INSERT ON Rentals table.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Condition: WHEN NEW.Rental_Status = 'Active'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Action: Automatically updates the matching row in Vehicles table, setting Status = 'Rented'.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Integrity Benefit: Guarantees that a vehicle cannot be double-booked. Eliminates reliance on client-side state manipulation.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Visual Feedback: GUI instantly shifts table badges from 🟢 Available to 🔴 Rented in real-time.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SQL Trigger Definition</a:t>
            </a:r>
          </a:p>
          <a:p>
            <a:pPr>
              <a:defRPr sz="1050">
                <a:solidFill>
                  <a:srgbClr val="F8FAFC"/>
                </a:solidFill>
                <a:latin typeface="Consolas"/>
              </a:defRPr>
            </a:pPr>
            <a:r>
              <a:t>-- MySQL / SQLite Trigger</a:t>
            </a:r>
            <a:br/>
            <a:r>
              <a:t>CREATE TRIGGER trg_after_booking_insert</a:t>
            </a:r>
            <a:br/>
            <a:r>
              <a:t>AFTER INSERT ON Rentals</a:t>
            </a:r>
            <a:br/>
            <a:r>
              <a:t>FOR EACH ROW</a:t>
            </a:r>
            <a:br/>
            <a:r>
              <a:t>WHEN NEW.Rental_Status = 'Active'</a:t>
            </a:r>
            <a:br/>
            <a:r>
              <a:t>BEGIN</a:t>
            </a:r>
            <a:br/>
            <a:r>
              <a:t>    UPDATE Vehicles</a:t>
            </a:r>
            <a:br/>
            <a:r>
              <a:t>    SET Status = 'Rented'</a:t>
            </a:r>
            <a:br/>
            <a:r>
              <a:t>    WHERE Vehicle_Number = NEW.Vehicle_Number;</a:t>
            </a:r>
            <a:br/>
            <a:r>
              <a:t>END;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DBMS LABORATORY • EXPERIMENT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Stored Procedure (ReturnVehicle Routine)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Procedure Workflow &amp; Fuel Audit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Procedure Signature: ReturnVehicle(p_vehicle_num, p_fuel_level)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1. Active Rental Lookup: Locates active booking in Rentals for the vehicle.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2. Duration Calculation: Calculates days rented: base_charge = daily_rate * days.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3. Low Fuel Audit: If p_fuel_level &lt; 20%: Extra_Fee = Rs. 500.00 surcharge automatically added to Total_Amount.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4. Ledger Closure: Sets Return_Date = NOW(), Rental_Status = 'Completed'.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5. Fleet State Restoration: Sets Vehicles.Status = 'Available' and updates Fuel_Level to returned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Stored Procedure Logic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CREATE PROCEDURE ReturnVehicle(</a:t>
            </a:r>
            <a:br/>
            <a:r>
              <a:t>    IN p_vehicle_num VARCHAR(50),</a:t>
            </a:r>
            <a:br/>
            <a:r>
              <a:t>    IN p_fuel_level DECIMAL(5, 2)</a:t>
            </a:r>
            <a:br/>
            <a:r>
              <a:t>)</a:t>
            </a:r>
            <a:br/>
            <a:r>
              <a:t>BEGIN</a:t>
            </a:r>
            <a:br/>
            <a:r>
              <a:t>    -- Surcharge condition</a:t>
            </a:r>
            <a:br/>
            <a:r>
              <a:t>    IF p_fuel_level &lt; 20.0 THEN</a:t>
            </a:r>
            <a:br/>
            <a:r>
              <a:t>        SET p_extra_fee = 500.00;</a:t>
            </a:r>
            <a:br/>
            <a:r>
              <a:t>    ELSE</a:t>
            </a:r>
            <a:br/>
            <a:r>
              <a:t>        SET p_extra_fee = 0.00;</a:t>
            </a:r>
            <a:br/>
            <a:r>
              <a:t>    END IF;</a:t>
            </a:r>
            <a:br/>
            <a:br/>
            <a:r>
              <a:t>    SET p_total = v_base_rent + p_extra_fee;</a:t>
            </a:r>
            <a:br/>
            <a:br/>
            <a:r>
              <a:t>    -- Update Ledger &amp; Fleet status</a:t>
            </a:r>
            <a:br/>
            <a:r>
              <a:t>    UPDATE Rentals SET Return_Date = NOW(),</a:t>
            </a:r>
            <a:br/>
            <a:r>
              <a:t>        Extra_Fee = p_extra_fee,</a:t>
            </a:r>
            <a:br/>
            <a:r>
              <a:t>        Total_Amount = p_total,</a:t>
            </a:r>
            <a:br/>
            <a:r>
              <a:t>        Rental_Status = 'Completed'</a:t>
            </a:r>
            <a:br/>
            <a:r>
              <a:t>    WHERE Rental_ID = v_id;</a:t>
            </a:r>
            <a:br/>
            <a:br/>
            <a:r>
              <a:t>    UPDATE Vehicles SET Status = 'Available',</a:t>
            </a:r>
            <a:br/>
            <a:r>
              <a:t>        Fuel_Level = p_fuel_level</a:t>
            </a:r>
            <a:br/>
            <a:r>
              <a:t>    WHERE Vehicle_Number = p_vehicle_num;</a:t>
            </a:r>
            <a:br/>
            <a:r>
              <a:t>END;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DBMS LABORATORY • EXPERIMENT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Deletion Features &amp; Active-Rental Safety Guards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7185"/>
                </a:solidFill>
              </a:defRPr>
            </a:pPr>
            <a:r>
              <a:t>🗑️ Delete Vehicle Safety Guard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Active Rental Check: Queries Vehicles table to verify current status.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Blocked Condition: If Status == 'Rented', deletion is intercepted and blocked with error pop-up: 'Cannot delete vehicle because it is currently Rented Out! Please return first.'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Safe Deletion Path: If Status == 'Available', prompts confirmation modal, deletes completed past history from Rentals, and removes vehicle from Vehicles table.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Live GUI Update: Auto-refreshes stat cards (Total Fleet, Available) and table 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</a:defRPr>
            </a:pPr>
            <a:r>
              <a:t>🗑️ Delete Customer Safety Guard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Active Bookings Check: Counts active rentals in Rentals table where Customer_ID matches and Rental_Status == 'Active'.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Blocked Condition: If active_count &gt; 0, deletion is blocked: 'Cannot delete customer because they have active rental booking(s)!'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Safe Deletion Path: If no active rentals, prompts confirmation, removes completed ledger records, and deletes customer row.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Integrity Guaranteed: Prevents orphaned active rental records and maintains foreign key consistency.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DBMS LABORATORY • EXPERIMENT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Graphical User Interface &amp;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High-Contrast Modern Theme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Dark background with elevated cards, high-contrast text, and distinct status indicators.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212080" cy="210312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Live KPI Metric Cards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Real-time metrics for Total Fleet, Available Units, Rented Out, and Total Revenue with color-coded badges.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</a:defRPr>
            </a:pPr>
            <a:r>
              <a:t>Segmented Tab Navigation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Smooth tab switcher supporting Fleet Status, Complete Rental Audit Ledger, Customer Registry, and Live SQL Inspector.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23360"/>
            <a:ext cx="5212080" cy="210312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206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Interactive Modals &amp; Sliders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Quick Check Out modal, Return modal with real-time fuel slider (&lt;20% warning), Add Vehicle/Customer modals, and Delete dialogs.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DBMS LABORATORY • EXPERIMENT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Step-by-Step Execution &amp; User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Step 1: Fleet &amp; Customer Init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System initializes schema, verifies PK and UNIQUE constraints, seeds registration plate numbers (TN 37 BY 0650, etc.).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728655" cy="105156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Step 2: Check Out (Rent Vehicle)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User selects available vehicle and customer. Rental row created -&gt; Trigger instantly switches status to 'Rented'.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728655" cy="105156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Step 3: Fuel Audit &amp; Return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ReturnVehicle procedure executes with returned fuel %. If &lt; 20%, +Rs. 500 penalty surcharge is computed. Vehicle restored to 'Available'.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7185"/>
                </a:solidFill>
              </a:defRPr>
            </a:pPr>
            <a:r>
              <a:t>Step 4: Record Deletion &amp; Auditing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Delete actions guarded against active rentals. SQL Inspector allows custom queries with instant tabular output.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DBMS LABORATORY • EXPERIMENT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Automated Verification &amp; Test Output (test_db.py)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66344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Console Output from Automated Test Suite</a:t>
            </a:r>
          </a:p>
          <a:p>
            <a:pPr>
              <a:defRPr sz="1050">
                <a:solidFill>
                  <a:srgbClr val="F8FAFC"/>
                </a:solidFill>
                <a:latin typeface="Consolas"/>
              </a:defRPr>
            </a:pPr>
            <a:r>
              <a:t>[+] Database initialized successfully.</a:t>
            </a:r>
            <a:br/>
            <a:r>
              <a:t>[+] Checkout response: True | Checkout successful! Vehicle TN 37 BY 0650 is now marked 'Rented' via Trigger.</a:t>
            </a:r>
            <a:br/>
            <a:r>
              <a:t>[+] Vehicle 'TN 37 BY 0650' status after checkout (Trigger): Rented</a:t>
            </a:r>
            <a:br/>
            <a:r>
              <a:t>[+] ReturnVehicle (15% fuel): extra_fee=500.0, total=1700.0 (Rs. 500 Low Fuel Surcharge Applied)</a:t>
            </a:r>
            <a:br/>
            <a:r>
              <a:t>[+] Vehicle status &amp; fuel after return: ('Available', 15.0)</a:t>
            </a:r>
            <a:br/>
            <a:r>
              <a:t>[+] Duplicate DL test: False | Constraint Violation: Driving License already exists! (UNIQUE Enforced)</a:t>
            </a:r>
            <a:br/>
            <a:r>
              <a:t>[+] Duplicate PK test: False | Constraint Violation: Vehicle Number already registered! (PRIMARY KEY Enforced)</a:t>
            </a:r>
            <a:br/>
            <a:br/>
            <a:r>
              <a:t>[+] Testing Deletion &amp; Safety Constraints...</a:t>
            </a:r>
            <a:br/>
            <a:r>
              <a:t>[+] Delete actively rented vehicle test: False | Blocked: Currently Rented Out!</a:t>
            </a:r>
            <a:br/>
            <a:r>
              <a:t>[+] Delete customer with active rental test: False | Blocked: Active rental booking exists!</a:t>
            </a:r>
            <a:br/>
            <a:r>
              <a:t>[+] Delete available vehicle test: True | Vehicle deleted successfully.</a:t>
            </a:r>
            <a:br/>
            <a:r>
              <a:t>[+] Delete inactive customer test: True | Customer deleted successfully.</a:t>
            </a:r>
            <a:br/>
            <a:br/>
            <a:r>
              <a:t>[SUCCESS] ALL LAB TESTS (TRIGGERS, PROCEDURES, CONSTRAINTS, DELETIONS) PASSED PERFECTLY!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DBMS LABORATORY • EXPERIMENT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Summary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663440"/>
          </a:xfrm>
          <a:prstGeom prst="roundRect">
            <a:avLst/>
          </a:prstGeom>
          <a:solidFill>
            <a:srgbClr val="141C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9713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Experiment Conclusion &amp; Key Findings</a:t>
            </a:r>
          </a:p>
          <a:p>
            <a:br/>
            <a:pPr>
              <a:defRPr sz="1250">
                <a:solidFill>
                  <a:srgbClr val="F8FAFC"/>
                </a:solidFill>
              </a:defRPr>
            </a:pPr>
            <a:r>
              <a:t>1. Entity &amp; Domain Integrity: Enforced Primary Key on Vehicle Registration Plates (TN 37 BY 0650), Unique Constraint on Driving Licenses, and Check constraints on fuel and daily rates.</a:t>
            </a:r>
          </a:p>
          <a:p>
            <a:br/>
            <a:pPr>
              <a:defRPr sz="1250">
                <a:solidFill>
                  <a:srgbClr val="F8FAFC"/>
                </a:solidFill>
              </a:defRPr>
            </a:pPr>
            <a:r>
              <a:t>2. Automated State Transitions: The AFTER INSERT Trigger eliminates concurrency errors by automatically switching vehicle status to 'Rented' upon booking.</a:t>
            </a:r>
          </a:p>
          <a:p>
            <a:br/>
            <a:pPr>
              <a:defRPr sz="1250">
                <a:solidFill>
                  <a:srgbClr val="F8FAFC"/>
                </a:solidFill>
              </a:defRPr>
            </a:pPr>
            <a:r>
              <a:t>3. Stored Procedure Fuel Audit: The ReturnVehicle routine enforces consistent billing rules with automatic Rs. 500 low-fuel surcharges and restores fleet availability.</a:t>
            </a:r>
          </a:p>
          <a:p>
            <a:br/>
            <a:pPr>
              <a:defRPr sz="1250">
                <a:solidFill>
                  <a:srgbClr val="F8FAFC"/>
                </a:solidFill>
              </a:defRPr>
            </a:pPr>
            <a:r>
              <a:t>4. Record Safety Guards: Delete Vehicle and Delete Customer operations prevent accidental deletion of rented assets and ongoing bookings.</a:t>
            </a:r>
          </a:p>
          <a:p>
            <a:br/>
            <a:pPr>
              <a:defRPr sz="1250">
                <a:solidFill>
                  <a:srgbClr val="F8FAFC"/>
                </a:solidFill>
              </a:defRPr>
            </a:pPr>
            <a:r>
              <a:t>5. Interactive User Interface: The desktop GUI delivers an intuitive, responsive administrative experience with real-time status updates.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